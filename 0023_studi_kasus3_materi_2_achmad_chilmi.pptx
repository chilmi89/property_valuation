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media/image1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3"/>
    <p:sldId id="257" r:id="rId4"/>
    <p:sldId id="266" r:id="rId5"/>
    <p:sldId id="267" r:id="rId6"/>
    <p:sldId id="268" r:id="rId7"/>
    <p:sldId id="258" r:id="rId8"/>
  </p:sldIdLst>
  <p:sldSz cx="18288000" cy="10287000"/>
  <p:notesSz cx="6858000" cy="9144000"/>
  <p:embeddedFontLst>
    <p:embeddedFont>
      <p:font typeface="Inter Bold" panose="020B0802030000000004" charset="0"/>
      <p:regular r:id="rId12"/>
    </p:embeddedFont>
    <p:embeddedFont>
      <p:font typeface="Inter" panose="020B0502030000000004" charset="0"/>
      <p:regular r:id="rId13"/>
    </p:embeddedFont>
    <p:embeddedFont>
      <p:font typeface="Inter Light" panose="02000503000000020004" charset="0"/>
      <p:regular r:id="rId14"/>
    </p:embeddedFont>
    <p:embeddedFont>
      <p:font typeface="Inter Semi-Bold" panose="0200050300000002000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38"/>
        <p:guide pos="288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font" Target="fonts/font4.fntdata"/><Relationship Id="rId14" Type="http://schemas.openxmlformats.org/officeDocument/2006/relationships/font" Target="fonts/font3.fntdata"/><Relationship Id="rId13" Type="http://schemas.openxmlformats.org/officeDocument/2006/relationships/font" Target="fonts/font2.fntdata"/><Relationship Id="rId12" Type="http://schemas.openxmlformats.org/officeDocument/2006/relationships/font" Target="fonts/font1.fntdata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8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.sv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12470531" y="4636453"/>
            <a:ext cx="10730064" cy="1076325"/>
            <a:chOff x="0" y="0"/>
            <a:chExt cx="3845413" cy="3857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45413" cy="385731"/>
            </a:xfrm>
            <a:custGeom>
              <a:avLst/>
              <a:gdLst/>
              <a:ahLst/>
              <a:cxnLst/>
              <a:rect l="l" t="t" r="r" b="b"/>
              <a:pathLst>
                <a:path w="3845413" h="385731">
                  <a:moveTo>
                    <a:pt x="0" y="0"/>
                  </a:moveTo>
                  <a:lnTo>
                    <a:pt x="3845413" y="0"/>
                  </a:lnTo>
                  <a:lnTo>
                    <a:pt x="3845413" y="385731"/>
                  </a:lnTo>
                  <a:lnTo>
                    <a:pt x="0" y="385731"/>
                  </a:lnTo>
                  <a:close/>
                </a:path>
              </a:pathLst>
            </a:custGeom>
            <a:solidFill>
              <a:srgbClr val="FDFDFA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845413" cy="4333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id="5" name="Group 5"/>
          <p:cNvGrpSpPr/>
          <p:nvPr/>
        </p:nvGrpSpPr>
        <p:grpSpPr>
          <a:xfrm rot="5400000">
            <a:off x="-2207895" y="1864995"/>
            <a:ext cx="10730230" cy="6619240"/>
            <a:chOff x="0" y="0"/>
            <a:chExt cx="3845413" cy="213429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845413" cy="2134298"/>
            </a:xfrm>
            <a:custGeom>
              <a:avLst/>
              <a:gdLst/>
              <a:ahLst/>
              <a:cxnLst/>
              <a:rect l="l" t="t" r="r" b="b"/>
              <a:pathLst>
                <a:path w="3845413" h="2134298">
                  <a:moveTo>
                    <a:pt x="0" y="0"/>
                  </a:moveTo>
                  <a:lnTo>
                    <a:pt x="3845413" y="0"/>
                  </a:lnTo>
                  <a:lnTo>
                    <a:pt x="3845413" y="2134298"/>
                  </a:lnTo>
                  <a:lnTo>
                    <a:pt x="0" y="2134298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3845413" cy="21819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8" name="Freeform 8"/>
          <p:cNvSpPr/>
          <p:nvPr/>
        </p:nvSpPr>
        <p:spPr>
          <a:xfrm>
            <a:off x="5234940" y="1031240"/>
            <a:ext cx="1250950" cy="1520825"/>
          </a:xfrm>
          <a:custGeom>
            <a:avLst/>
            <a:gdLst/>
            <a:ahLst/>
            <a:cxnLst/>
            <a:rect l="l" t="t" r="r" b="b"/>
            <a:pathLst>
              <a:path w="948381" h="1520727">
                <a:moveTo>
                  <a:pt x="0" y="0"/>
                </a:moveTo>
                <a:lnTo>
                  <a:pt x="948381" y="0"/>
                </a:lnTo>
                <a:lnTo>
                  <a:pt x="948381" y="1520727"/>
                </a:lnTo>
                <a:lnTo>
                  <a:pt x="0" y="1520727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15506330" y="8951595"/>
            <a:ext cx="152400" cy="190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sz="1800" spc="-72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PAGE 1</a:t>
            </a:r>
            <a:endParaRPr lang="en-US" sz="1800" spc="-72">
              <a:solidFill>
                <a:srgbClr val="403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8377573" y="1214332"/>
            <a:ext cx="6213575" cy="755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sz="4400" b="1">
                <a:solidFill>
                  <a:srgbClr val="403E3E"/>
                </a:solidFill>
                <a:latin typeface="Inter Bold"/>
              </a:rPr>
              <a:t>MATERI 2</a:t>
            </a:r>
            <a:endParaRPr sz="4400" b="1">
              <a:solidFill>
                <a:srgbClr val="403E3E"/>
              </a:solidFill>
              <a:latin typeface="Inter Bold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8377573" y="2202611"/>
            <a:ext cx="6213575" cy="622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sz="3600" b="1">
                <a:solidFill>
                  <a:srgbClr val="403E3E"/>
                </a:solidFill>
                <a:latin typeface="Inter Bold"/>
              </a:rPr>
              <a:t>STUDI KASUS NO 3</a:t>
            </a:r>
            <a:endParaRPr sz="3600" b="1">
              <a:solidFill>
                <a:srgbClr val="403E3E"/>
              </a:solidFill>
              <a:latin typeface="Inter Bold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01421" y="2666390"/>
            <a:ext cx="6213348" cy="622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403E3E"/>
                </a:solidFill>
                <a:latin typeface="Inter Bold"/>
              </a:rPr>
              <a:t>ACHMAD CHILMI</a:t>
            </a:r>
            <a:endParaRPr sz="3600" b="1" i="0">
              <a:solidFill>
                <a:srgbClr val="403E3E"/>
              </a:solidFill>
              <a:latin typeface="Inter Bold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01421" y="3747211"/>
            <a:ext cx="6213348" cy="622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403E3E"/>
                </a:solidFill>
                <a:latin typeface="Inter Bold"/>
              </a:rPr>
              <a:t>2313020023</a:t>
            </a:r>
            <a:endParaRPr sz="3600" b="1" i="0">
              <a:solidFill>
                <a:srgbClr val="403E3E"/>
              </a:solidFill>
              <a:latin typeface="Inter Bold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01421" y="4724704"/>
            <a:ext cx="6213348" cy="622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403E3E"/>
                </a:solidFill>
                <a:latin typeface="Inter Bold"/>
              </a:rPr>
              <a:t>3-A</a:t>
            </a:r>
            <a:endParaRPr sz="3600" b="1" i="0">
              <a:solidFill>
                <a:srgbClr val="403E3E"/>
              </a:solidFill>
              <a:latin typeface="Inter Bold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01421" y="5875934"/>
            <a:ext cx="6213348" cy="622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403E3E"/>
                </a:solidFill>
                <a:latin typeface="Inter Bold"/>
              </a:rPr>
              <a:t>PEMODELAN &amp; SIMULASI</a:t>
            </a:r>
            <a:endParaRPr sz="3600" b="1" i="0">
              <a:solidFill>
                <a:srgbClr val="403E3E"/>
              </a:solidFill>
              <a:latin typeface="Inter Bold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954926" y="3915460"/>
            <a:ext cx="9486900" cy="451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 i="0">
                <a:solidFill>
                  <a:srgbClr val="403E3E"/>
                </a:solidFill>
                <a:latin typeface="Inter Bold"/>
              </a:rPr>
              <a:t>SIMULASI VALUASI HARGA PROPERTI DAN ESTIMASI NILAI JUAL RUMAH
MENGGUNAKAN ALGORITMA SVR</a:t>
            </a:r>
            <a:endParaRPr sz="4800" b="1" i="0">
              <a:solidFill>
                <a:srgbClr val="403E3E"/>
              </a:solidFill>
              <a:latin typeface="Inter 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12432431" y="4605338"/>
            <a:ext cx="10730064" cy="1076325"/>
            <a:chOff x="0" y="0"/>
            <a:chExt cx="3845413" cy="3857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45413" cy="385731"/>
            </a:xfrm>
            <a:custGeom>
              <a:avLst/>
              <a:gdLst/>
              <a:ahLst/>
              <a:cxnLst/>
              <a:rect l="l" t="t" r="r" b="b"/>
              <a:pathLst>
                <a:path w="3845413" h="385731">
                  <a:moveTo>
                    <a:pt x="0" y="0"/>
                  </a:moveTo>
                  <a:lnTo>
                    <a:pt x="3845413" y="0"/>
                  </a:lnTo>
                  <a:lnTo>
                    <a:pt x="3845413" y="385731"/>
                  </a:lnTo>
                  <a:lnTo>
                    <a:pt x="0" y="385731"/>
                  </a:lnTo>
                  <a:close/>
                </a:path>
              </a:pathLst>
            </a:custGeom>
            <a:solidFill>
              <a:srgbClr val="FDFDFA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845413" cy="4333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id="15" name="Group 15"/>
          <p:cNvGrpSpPr/>
          <p:nvPr/>
        </p:nvGrpSpPr>
        <p:grpSpPr>
          <a:xfrm rot="5400000">
            <a:off x="-3195310" y="2727751"/>
            <a:ext cx="10730064" cy="4831498"/>
            <a:chOff x="0" y="0"/>
            <a:chExt cx="3845413" cy="17315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845413" cy="1731500"/>
            </a:xfrm>
            <a:custGeom>
              <a:avLst/>
              <a:gdLst/>
              <a:ahLst/>
              <a:cxnLst/>
              <a:rect l="l" t="t" r="r" b="b"/>
              <a:pathLst>
                <a:path w="3845413" h="1731500">
                  <a:moveTo>
                    <a:pt x="0" y="0"/>
                  </a:moveTo>
                  <a:lnTo>
                    <a:pt x="3845413" y="0"/>
                  </a:lnTo>
                  <a:lnTo>
                    <a:pt x="3845413" y="1731500"/>
                  </a:lnTo>
                  <a:lnTo>
                    <a:pt x="0" y="1731500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3845413" cy="1779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90525" y="1028700"/>
            <a:ext cx="8769096" cy="1445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2. Model Analyst</a:t>
            </a:r>
            <a:endParaRPr sz="4400" b="0" i="0">
              <a:solidFill>
                <a:srgbClr val="403E3E"/>
              </a:solidFill>
              <a:latin typeface="Inter"/>
            </a:endParaRPr>
          </a:p>
          <a:p>
            <a:r>
              <a:rPr sz="4400" b="0" i="0">
                <a:solidFill>
                  <a:srgbClr val="403E3E"/>
                </a:solidFill>
                <a:latin typeface="Inter"/>
              </a:rPr>
              <a:t> &amp; Strategist</a:t>
            </a:r>
            <a:endParaRPr sz="4400" b="0" i="0">
              <a:solidFill>
                <a:srgbClr val="403E3E"/>
              </a:solidFill>
              <a:latin typeface="Inter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57200" y="3161995"/>
            <a:ext cx="3994099" cy="27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Filosofi Strategi Pemodelan</a:t>
            </a:r>
            <a:endParaRPr sz="4400" b="0" i="0">
              <a:solidFill>
                <a:srgbClr val="403E3E"/>
              </a:solidFill>
              <a:latin typeface="Inter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10504" y="1028700"/>
            <a:ext cx="12401092" cy="775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600">
                <a:solidFill>
                  <a:srgbClr val="403E3E"/>
                </a:solidFill>
                <a:latin typeface="Inter"/>
              </a:defRPr>
            </a:pPr>
            <a:r>
              <a:t>A. Mengapa SVR (Support Vector Regression)?</a:t>
            </a:r>
          </a:p>
          <a:p>
            <a:pPr>
              <a:spcAft>
                <a:spcPts val="1200"/>
              </a:spcAft>
              <a:defRPr sz="2600">
                <a:solidFill>
                  <a:srgbClr val="403E3E"/>
                </a:solidFill>
                <a:latin typeface="Inter"/>
              </a:defRPr>
            </a:pPr>
            <a:r>
              <a:t>Logika Analis: "Hubungan antara karakteristik fisik rumah, lokasi geografis, dan harga sering kali bersifat non-linear kompleks. Algoritma SVR dengan kernel RBF (Radial Basis Function) mampu memetakan fitur ke dimensi tinggi untuk mencari margin kesalahan terkecil secara optimal."</a:t>
            </a:r>
          </a:p>
          <a:p>
            <a:pPr>
              <a:spcAft>
                <a:spcPts val="1200"/>
              </a:spcAft>
              <a:defRPr sz="2600">
                <a:solidFill>
                  <a:srgbClr val="403E3E"/>
                </a:solidFill>
                <a:latin typeface="Inter"/>
              </a:defRPr>
            </a:pPr>
            <a:r>
              <a:t>Strategi Tuning: Mengatur parameter penalti C=10.0 untuk menyeimbangkan margin, dan epsilon=0.1 untuk mendefinisikan batas toleransi kesalahan.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12432431" y="4605338"/>
            <a:ext cx="10730064" cy="1076325"/>
            <a:chOff x="0" y="0"/>
            <a:chExt cx="3845413" cy="3857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45413" cy="385731"/>
            </a:xfrm>
            <a:custGeom>
              <a:avLst/>
              <a:gdLst/>
              <a:ahLst/>
              <a:cxnLst/>
              <a:rect l="l" t="t" r="r" b="b"/>
              <a:pathLst>
                <a:path w="3845413" h="385731">
                  <a:moveTo>
                    <a:pt x="0" y="0"/>
                  </a:moveTo>
                  <a:lnTo>
                    <a:pt x="3845413" y="0"/>
                  </a:lnTo>
                  <a:lnTo>
                    <a:pt x="3845413" y="385731"/>
                  </a:lnTo>
                  <a:lnTo>
                    <a:pt x="0" y="385731"/>
                  </a:lnTo>
                  <a:close/>
                </a:path>
              </a:pathLst>
            </a:custGeom>
            <a:solidFill>
              <a:srgbClr val="FDFDFA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845413" cy="4333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5506330" y="8951595"/>
            <a:ext cx="152400" cy="190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r>
              <a:rPr sz="1800">
                <a:solidFill>
                  <a:srgbClr val="403E3E"/>
                </a:solidFill>
                <a:latin typeface="Inter"/>
              </a:rPr>
              <a:t>PAGE 3</a:t>
            </a:r>
            <a:endParaRPr sz="1800">
              <a:solidFill>
                <a:srgbClr val="403E3E"/>
              </a:solidFill>
              <a:latin typeface="Inter"/>
            </a:endParaRPr>
          </a:p>
        </p:txBody>
      </p:sp>
      <p:grpSp>
        <p:nvGrpSpPr>
          <p:cNvPr id="15" name="Group 15"/>
          <p:cNvGrpSpPr/>
          <p:nvPr/>
        </p:nvGrpSpPr>
        <p:grpSpPr>
          <a:xfrm rot="5400000">
            <a:off x="-3195310" y="2727751"/>
            <a:ext cx="10730064" cy="4831498"/>
            <a:chOff x="0" y="0"/>
            <a:chExt cx="3845413" cy="17315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845413" cy="1731500"/>
            </a:xfrm>
            <a:custGeom>
              <a:avLst/>
              <a:gdLst/>
              <a:ahLst/>
              <a:cxnLst/>
              <a:rect l="l" t="t" r="r" b="b"/>
              <a:pathLst>
                <a:path w="3845413" h="1731500">
                  <a:moveTo>
                    <a:pt x="0" y="0"/>
                  </a:moveTo>
                  <a:lnTo>
                    <a:pt x="3845413" y="0"/>
                  </a:lnTo>
                  <a:lnTo>
                    <a:pt x="3845413" y="1731500"/>
                  </a:lnTo>
                  <a:lnTo>
                    <a:pt x="0" y="1731500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3845413" cy="1779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90525" y="1028700"/>
            <a:ext cx="8769096" cy="1445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2. Model Analyst </a:t>
            </a:r>
            <a:endParaRPr sz="4400" b="0" i="0">
              <a:solidFill>
                <a:srgbClr val="403E3E"/>
              </a:solidFill>
              <a:latin typeface="Inter"/>
            </a:endParaRPr>
          </a:p>
          <a:p>
            <a:r>
              <a:rPr sz="4400" b="0" i="0">
                <a:solidFill>
                  <a:srgbClr val="403E3E"/>
                </a:solidFill>
                <a:latin typeface="Inter"/>
              </a:rPr>
              <a:t>&amp; Strategist</a:t>
            </a:r>
            <a:endParaRPr sz="4400" b="0" i="0">
              <a:solidFill>
                <a:srgbClr val="403E3E"/>
              </a:solidFill>
              <a:latin typeface="Inter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57200" y="3161995"/>
            <a:ext cx="3994099" cy="27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Deep Dive: Model Assessment</a:t>
            </a:r>
            <a:endParaRPr sz="4400" b="0" i="0">
              <a:solidFill>
                <a:srgbClr val="403E3E"/>
              </a:solidFill>
              <a:latin typeface="Inter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10504" y="1028700"/>
            <a:ext cx="12401092" cy="775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403E3E"/>
                </a:solidFill>
                <a:latin typeface="Inter"/>
              </a:defRPr>
            </a:pPr>
            <a:r>
              <a:t>A. Uji Akurasi Galat Regresi</a:t>
            </a:r>
          </a:p>
          <a:p>
            <a:pPr>
              <a:spcAft>
                <a:spcPts val="1200"/>
              </a:spcAft>
              <a:defRPr sz="2400">
                <a:solidFill>
                  <a:srgbClr val="403E3E"/>
                </a:solidFill>
                <a:latin typeface="Inter"/>
              </a:defRPr>
            </a:pPr>
            <a:r>
              <a:t>Metrik Evaluasi: Menggunakan MAE (Mean Absolute Error), RMSE (Root Mean Squared Error), dan R-squared (R2 Score).</a:t>
            </a:r>
          </a:p>
          <a:p>
            <a:pPr>
              <a:spcAft>
                <a:spcPts val="1200"/>
              </a:spcAft>
              <a:defRPr sz="2400">
                <a:solidFill>
                  <a:srgbClr val="403E3E"/>
                </a:solidFill>
                <a:latin typeface="Inter"/>
              </a:defRPr>
            </a:pPr>
            <a:r>
              <a:t>Hasil Performa SVR:</a:t>
            </a:r>
          </a:p>
          <a:p>
            <a:pPr lvl="1">
              <a:spcAft>
                <a:spcPts val="1200"/>
              </a:spcAft>
              <a:defRPr sz="2000">
                <a:solidFill>
                  <a:srgbClr val="403E3E"/>
                </a:solidFill>
                <a:latin typeface="Inter"/>
              </a:defRPr>
            </a:pPr>
            <a:r>
              <a:t>- R2 Score (Data Uji): 0.65 (Model berhasil menjelaskan 65% variabilitas harga rumah).</a:t>
            </a:r>
          </a:p>
          <a:p>
            <a:pPr lvl="1">
              <a:spcAft>
                <a:spcPts val="1200"/>
              </a:spcAft>
              <a:defRPr sz="2000">
                <a:solidFill>
                  <a:srgbClr val="403E3E"/>
                </a:solidFill>
                <a:latin typeface="Inter"/>
              </a:defRPr>
            </a:pPr>
            <a:r>
              <a:t>- MAE: Sekitar $110.000 (Galat rata-rata taksiran harga).</a:t>
            </a:r>
          </a:p>
          <a:p>
            <a:pPr lvl="1">
              <a:spcAft>
                <a:spcPts val="1200"/>
              </a:spcAft>
              <a:defRPr sz="2000">
                <a:solidFill>
                  <a:srgbClr val="403E3E"/>
                </a:solidFill>
                <a:latin typeface="Inter"/>
              </a:defRPr>
            </a:pPr>
            <a:r>
              <a:t>- RMSE: Sekitar $210.000 (Sensitif terhadap galat besar).</a:t>
            </a:r>
          </a:p>
          <a:p>
            <a:pPr>
              <a:spcAft>
                <a:spcPts val="1200"/>
              </a:spcAft>
              <a:defRPr sz="2400">
                <a:solidFill>
                  <a:srgbClr val="403E3E"/>
                </a:solidFill>
                <a:latin typeface="Inter"/>
              </a:defRPr>
            </a:pPr>
            <a:r>
              <a:t>Kesimpulan: Galat relatif wajar mengingat sebaran harga properti yang sangat dinamis (dari ratusan ribu hingga jutaan USD).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12432431" y="4605338"/>
            <a:ext cx="10730064" cy="1076325"/>
            <a:chOff x="0" y="0"/>
            <a:chExt cx="3845413" cy="3857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45413" cy="385731"/>
            </a:xfrm>
            <a:custGeom>
              <a:avLst/>
              <a:gdLst/>
              <a:ahLst/>
              <a:cxnLst/>
              <a:rect l="l" t="t" r="r" b="b"/>
              <a:pathLst>
                <a:path w="3845413" h="385731">
                  <a:moveTo>
                    <a:pt x="0" y="0"/>
                  </a:moveTo>
                  <a:lnTo>
                    <a:pt x="3845413" y="0"/>
                  </a:lnTo>
                  <a:lnTo>
                    <a:pt x="3845413" y="385731"/>
                  </a:lnTo>
                  <a:lnTo>
                    <a:pt x="0" y="385731"/>
                  </a:lnTo>
                  <a:close/>
                </a:path>
              </a:pathLst>
            </a:custGeom>
            <a:solidFill>
              <a:srgbClr val="FDFDFA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845413" cy="4333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5506330" y="8951595"/>
            <a:ext cx="152400" cy="190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r>
              <a:rPr sz="1800">
                <a:solidFill>
                  <a:srgbClr val="403E3E"/>
                </a:solidFill>
                <a:latin typeface="Inter"/>
              </a:rPr>
              <a:t>PAGE 4</a:t>
            </a:r>
            <a:endParaRPr sz="1800">
              <a:solidFill>
                <a:srgbClr val="403E3E"/>
              </a:solidFill>
              <a:latin typeface="Inter"/>
            </a:endParaRPr>
          </a:p>
        </p:txBody>
      </p:sp>
      <p:grpSp>
        <p:nvGrpSpPr>
          <p:cNvPr id="15" name="Group 15"/>
          <p:cNvGrpSpPr/>
          <p:nvPr/>
        </p:nvGrpSpPr>
        <p:grpSpPr>
          <a:xfrm rot="5400000">
            <a:off x="-3195310" y="2727751"/>
            <a:ext cx="10730064" cy="4831498"/>
            <a:chOff x="0" y="0"/>
            <a:chExt cx="3845413" cy="17315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845413" cy="1731500"/>
            </a:xfrm>
            <a:custGeom>
              <a:avLst/>
              <a:gdLst/>
              <a:ahLst/>
              <a:cxnLst/>
              <a:rect l="l" t="t" r="r" b="b"/>
              <a:pathLst>
                <a:path w="3845413" h="1731500">
                  <a:moveTo>
                    <a:pt x="0" y="0"/>
                  </a:moveTo>
                  <a:lnTo>
                    <a:pt x="3845413" y="0"/>
                  </a:lnTo>
                  <a:lnTo>
                    <a:pt x="3845413" y="1731500"/>
                  </a:lnTo>
                  <a:lnTo>
                    <a:pt x="0" y="1731500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3845413" cy="1779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90525" y="1028700"/>
            <a:ext cx="8769096" cy="1445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2. Model Analyst</a:t>
            </a:r>
            <a:endParaRPr sz="4400" b="0" i="0">
              <a:solidFill>
                <a:srgbClr val="403E3E"/>
              </a:solidFill>
              <a:latin typeface="Inter"/>
            </a:endParaRPr>
          </a:p>
          <a:p>
            <a:r>
              <a:rPr sz="4400" b="0" i="0">
                <a:solidFill>
                  <a:srgbClr val="403E3E"/>
                </a:solidFill>
                <a:latin typeface="Inter"/>
              </a:rPr>
              <a:t> &amp; Strategist</a:t>
            </a:r>
            <a:endParaRPr sz="4400" b="0" i="0">
              <a:solidFill>
                <a:srgbClr val="403E3E"/>
              </a:solidFill>
              <a:latin typeface="Inter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57200" y="3161995"/>
            <a:ext cx="3994099" cy="27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Explainable AI (XAI) dengan SHAP</a:t>
            </a:r>
            <a:endParaRPr sz="4400" b="0" i="0">
              <a:solidFill>
                <a:srgbClr val="403E3E"/>
              </a:solidFill>
              <a:latin typeface="Inter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10504" y="1028700"/>
            <a:ext cx="12401092" cy="775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403E3E"/>
                </a:solidFill>
                <a:latin typeface="Inter"/>
              </a:defRPr>
            </a:pPr>
            <a:r>
              <a:t>A. Paradigma Transparansi Keputusan SVR</a:t>
            </a:r>
          </a:p>
          <a:p>
            <a:pPr>
              <a:spcAft>
                <a:spcPts val="1200"/>
              </a:spcAft>
              <a:defRPr sz="2400">
                <a:solidFill>
                  <a:srgbClr val="403E3E"/>
                </a:solidFill>
                <a:latin typeface="Inter"/>
              </a:defRPr>
            </a:pPr>
            <a:r>
              <a:t>Interpretasi SHAP: Menjelaskan kontribusi setiap fitur terhadap harga prediksi akhir properti.</a:t>
            </a:r>
          </a:p>
          <a:p>
            <a:pPr>
              <a:spcAft>
                <a:spcPts val="1200"/>
              </a:spcAft>
              <a:defRPr sz="2400">
                <a:solidFill>
                  <a:srgbClr val="403E3E"/>
                </a:solidFill>
                <a:latin typeface="Inter"/>
              </a:defRPr>
            </a:pPr>
            <a:r>
              <a:t>Fitur Pendorong (Push Features):</a:t>
            </a:r>
          </a:p>
          <a:p>
            <a:pPr lvl="1">
              <a:spcAft>
                <a:spcPts val="1200"/>
              </a:spcAft>
              <a:defRPr sz="2000">
                <a:solidFill>
                  <a:srgbClr val="403E3E"/>
                </a:solidFill>
                <a:latin typeface="Inter"/>
              </a:defRPr>
            </a:pPr>
            <a:r>
              <a:t>- sqft_living dan grade tinggi sangat dominan mendorong taksiran harga properti ke atas.</a:t>
            </a:r>
          </a:p>
          <a:p>
            <a:pPr lvl="1">
              <a:spcAft>
                <a:spcPts val="1200"/>
              </a:spcAft>
              <a:defRPr sz="2000">
                <a:solidFill>
                  <a:srgbClr val="403E3E"/>
                </a:solidFill>
                <a:latin typeface="Inter"/>
              </a:defRPr>
            </a:pPr>
            <a:r>
              <a:t>- lat (koordinat utara) menarik harga ke atas (lokasi premium dekat pusat kota).</a:t>
            </a:r>
          </a:p>
          <a:p>
            <a:pPr>
              <a:spcAft>
                <a:spcPts val="1200"/>
              </a:spcAft>
              <a:defRPr sz="2400">
                <a:solidFill>
                  <a:srgbClr val="403E3E"/>
                </a:solidFill>
                <a:latin typeface="Inter"/>
              </a:defRPr>
            </a:pPr>
            <a:r>
              <a:t>Fitur Penarik (Pull Features):</a:t>
            </a:r>
          </a:p>
          <a:p>
            <a:pPr lvl="1">
              <a:spcAft>
                <a:spcPts val="1200"/>
              </a:spcAft>
              <a:defRPr sz="2000">
                <a:solidFill>
                  <a:srgbClr val="403E3E"/>
                </a:solidFill>
                <a:latin typeface="Inter"/>
              </a:defRPr>
            </a:pPr>
            <a:r>
              <a:t>- House_Age yang tinggi (usia tua) menarik harga properti ke bawah.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2" name="Group 2"/>
          <p:cNvGrpSpPr/>
          <p:nvPr/>
        </p:nvGrpSpPr>
        <p:grpSpPr>
          <a:xfrm rot="5400000">
            <a:off x="12432431" y="4605338"/>
            <a:ext cx="10730064" cy="1076325"/>
            <a:chOff x="0" y="0"/>
            <a:chExt cx="3845413" cy="3857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45413" cy="385731"/>
            </a:xfrm>
            <a:custGeom>
              <a:avLst/>
              <a:gdLst/>
              <a:ahLst/>
              <a:cxnLst/>
              <a:rect l="l" t="t" r="r" b="b"/>
              <a:pathLst>
                <a:path w="3845413" h="385731">
                  <a:moveTo>
                    <a:pt x="0" y="0"/>
                  </a:moveTo>
                  <a:lnTo>
                    <a:pt x="3845413" y="0"/>
                  </a:lnTo>
                  <a:lnTo>
                    <a:pt x="3845413" y="385731"/>
                  </a:lnTo>
                  <a:lnTo>
                    <a:pt x="0" y="385731"/>
                  </a:lnTo>
                  <a:close/>
                </a:path>
              </a:pathLst>
            </a:custGeom>
            <a:solidFill>
              <a:srgbClr val="FDFDFA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845413" cy="4333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5506330" y="8951595"/>
            <a:ext cx="152400" cy="190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r>
              <a:rPr sz="1800">
                <a:solidFill>
                  <a:srgbClr val="403E3E"/>
                </a:solidFill>
                <a:latin typeface="Inter"/>
              </a:rPr>
              <a:t>PAGE 5</a:t>
            </a:r>
            <a:endParaRPr sz="1800">
              <a:solidFill>
                <a:srgbClr val="403E3E"/>
              </a:solidFill>
              <a:latin typeface="Inter"/>
            </a:endParaRPr>
          </a:p>
        </p:txBody>
      </p:sp>
      <p:grpSp>
        <p:nvGrpSpPr>
          <p:cNvPr id="15" name="Group 15"/>
          <p:cNvGrpSpPr/>
          <p:nvPr/>
        </p:nvGrpSpPr>
        <p:grpSpPr>
          <a:xfrm rot="5400000">
            <a:off x="-3195310" y="2727751"/>
            <a:ext cx="10730064" cy="4831498"/>
            <a:chOff x="0" y="0"/>
            <a:chExt cx="3845413" cy="17315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845413" cy="1731500"/>
            </a:xfrm>
            <a:custGeom>
              <a:avLst/>
              <a:gdLst/>
              <a:ahLst/>
              <a:cxnLst/>
              <a:rect l="l" t="t" r="r" b="b"/>
              <a:pathLst>
                <a:path w="3845413" h="1731500">
                  <a:moveTo>
                    <a:pt x="0" y="0"/>
                  </a:moveTo>
                  <a:lnTo>
                    <a:pt x="3845413" y="0"/>
                  </a:lnTo>
                  <a:lnTo>
                    <a:pt x="3845413" y="1731500"/>
                  </a:lnTo>
                  <a:lnTo>
                    <a:pt x="0" y="1731500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3845413" cy="1779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90525" y="1028700"/>
            <a:ext cx="8769096" cy="1445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2. Model Analyst </a:t>
            </a:r>
            <a:endParaRPr sz="4400" b="0" i="0">
              <a:solidFill>
                <a:srgbClr val="403E3E"/>
              </a:solidFill>
              <a:latin typeface="Inter"/>
            </a:endParaRPr>
          </a:p>
          <a:p>
            <a:r>
              <a:rPr sz="4400" b="0" i="0">
                <a:solidFill>
                  <a:srgbClr val="403E3E"/>
                </a:solidFill>
                <a:latin typeface="Inter"/>
              </a:rPr>
              <a:t>&amp; Strategist</a:t>
            </a:r>
            <a:endParaRPr sz="4400" b="0" i="0">
              <a:solidFill>
                <a:srgbClr val="403E3E"/>
              </a:solidFill>
              <a:latin typeface="Inter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57200" y="3161995"/>
            <a:ext cx="3994099" cy="27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What-If Analysis</a:t>
            </a:r>
            <a:endParaRPr sz="4400" b="0" i="0">
              <a:solidFill>
                <a:srgbClr val="403E3E"/>
              </a:solidFill>
              <a:latin typeface="Inter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10504" y="1028700"/>
            <a:ext cx="12401092" cy="775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600">
                <a:solidFill>
                  <a:srgbClr val="403E3E"/>
                </a:solidFill>
                <a:latin typeface="Inter"/>
              </a:defRPr>
            </a:pPr>
            <a:r>
              <a:t>A. Simulasi Valuasi Dinamis Rumah</a:t>
            </a:r>
          </a:p>
          <a:p>
            <a:pPr>
              <a:spcAft>
                <a:spcPts val="1200"/>
              </a:spcAft>
              <a:defRPr sz="2600">
                <a:solidFill>
                  <a:srgbClr val="403E3E"/>
                </a:solidFill>
                <a:latin typeface="Inter"/>
              </a:defRPr>
            </a:pPr>
            <a:r>
              <a:t>Skenario What-If: Membangun fungsi simulator valuation_simulator(house_index, quality_upgrade, renovate) untuk memprediksi perubahan harga properti pasca-renovasi.</a:t>
            </a:r>
          </a:p>
          <a:p>
            <a:pPr>
              <a:spcAft>
                <a:spcPts val="1200"/>
              </a:spcAft>
              <a:defRPr sz="2600">
                <a:solidFill>
                  <a:srgbClr val="403E3E"/>
                </a:solidFill>
                <a:latin typeface="Inter"/>
              </a:defRPr>
            </a:pPr>
            <a:r>
              <a:t>Business Impact: "Dengan simulator ini, calon penjual atau investor properti dapat mengestimasi kenaikan harga taksir sebelum melakukan renovasi fisik, mengoptimalkan Return on Investment (ROI)."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12432431" y="4605338"/>
            <a:ext cx="10730064" cy="1076325"/>
            <a:chOff x="0" y="0"/>
            <a:chExt cx="3845413" cy="3857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45413" cy="385731"/>
            </a:xfrm>
            <a:custGeom>
              <a:avLst/>
              <a:gdLst/>
              <a:ahLst/>
              <a:cxnLst/>
              <a:rect l="l" t="t" r="r" b="b"/>
              <a:pathLst>
                <a:path w="3845413" h="385731">
                  <a:moveTo>
                    <a:pt x="0" y="0"/>
                  </a:moveTo>
                  <a:lnTo>
                    <a:pt x="3845413" y="0"/>
                  </a:lnTo>
                  <a:lnTo>
                    <a:pt x="3845413" y="385731"/>
                  </a:lnTo>
                  <a:lnTo>
                    <a:pt x="0" y="385731"/>
                  </a:lnTo>
                  <a:close/>
                </a:path>
              </a:pathLst>
            </a:custGeom>
            <a:solidFill>
              <a:srgbClr val="FDFDFA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845413" cy="4333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7696504" y="3771900"/>
            <a:ext cx="7552944" cy="926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0" b="1" i="0">
                <a:solidFill>
                  <a:srgbClr val="403E3E"/>
                </a:solidFill>
                <a:latin typeface="Inter Semi-Bold"/>
              </a:rPr>
              <a:t>THANK YOU</a:t>
            </a:r>
            <a:endParaRPr sz="8500" b="1" i="0">
              <a:solidFill>
                <a:srgbClr val="403E3E"/>
              </a:solidFill>
              <a:latin typeface="Inter Semi-Bol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2179</Words>
  <Application>WPS Presentation</Application>
  <PresentationFormat>On-screen Show (4:3)</PresentationFormat>
  <Paragraphs>68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9" baseType="lpstr">
      <vt:lpstr>Arial</vt:lpstr>
      <vt:lpstr>SimSun</vt:lpstr>
      <vt:lpstr>Wingdings</vt:lpstr>
      <vt:lpstr>DejaVu Sans</vt:lpstr>
      <vt:lpstr>Inter</vt:lpstr>
      <vt:lpstr>C059</vt:lpstr>
      <vt:lpstr>Inter Bold</vt:lpstr>
      <vt:lpstr>Inter Semi-Bold</vt:lpstr>
      <vt:lpstr>Calibri</vt:lpstr>
      <vt:lpstr>Microsoft YaHei</vt:lpstr>
      <vt:lpstr>Droid Sans Fallback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Black and Cream Clean and Simple Social Media Marketing Report Presentation</dc:title>
  <dc:creator/>
  <cp:lastModifiedBy>syelha</cp:lastModifiedBy>
  <cp:revision>4</cp:revision>
  <dcterms:created xsi:type="dcterms:W3CDTF">2026-06-11T07:34:37Z</dcterms:created>
  <dcterms:modified xsi:type="dcterms:W3CDTF">2026-06-11T07:34:37Z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1033-11.1.0.11723</vt:lpwstr>
  </property>
</Properties>
</file>