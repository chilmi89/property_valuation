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6" r:id="rId5"/>
    <p:sldId id="267" r:id="rId6"/>
    <p:sldId id="258" r:id="rId7"/>
  </p:sldIdLst>
  <p:sldSz cx="18288000" cy="10287000"/>
  <p:notesSz cx="6858000" cy="9144000"/>
  <p:embeddedFontLst>
    <p:embeddedFont>
      <p:font typeface="Inter Bold" panose="020B0802030000000004" charset="0"/>
      <p:regular r:id="rId11"/>
    </p:embeddedFont>
    <p:embeddedFont>
      <p:font typeface="Inter" panose="020B0502030000000004" charset="0"/>
      <p:regular r:id="rId12"/>
    </p:embeddedFont>
    <p:embeddedFont>
      <p:font typeface="Inter Light" panose="02000503000000020004" charset="0"/>
      <p:regular r:id="rId13"/>
    </p:embeddedFont>
    <p:embeddedFont>
      <p:font typeface="Inter Semi-Bold" panose="020005030000000200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38"/>
        <p:guide pos="2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sv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sv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70531" y="4636453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-2207895" y="1864995"/>
            <a:ext cx="10730230" cy="6619240"/>
            <a:chOff x="0" y="0"/>
            <a:chExt cx="3845413" cy="21342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45413" cy="2134298"/>
            </a:xfrm>
            <a:custGeom>
              <a:avLst/>
              <a:gdLst/>
              <a:ahLst/>
              <a:cxnLst/>
              <a:rect l="l" t="t" r="r" b="b"/>
              <a:pathLst>
                <a:path w="3845413" h="2134298">
                  <a:moveTo>
                    <a:pt x="0" y="0"/>
                  </a:moveTo>
                  <a:lnTo>
                    <a:pt x="3845413" y="0"/>
                  </a:lnTo>
                  <a:lnTo>
                    <a:pt x="3845413" y="2134298"/>
                  </a:lnTo>
                  <a:lnTo>
                    <a:pt x="0" y="213429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845413" cy="218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5234940" y="1031240"/>
            <a:ext cx="1250950" cy="1520825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  <a:endParaRPr lang="en-US" sz="1800" spc="-72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377573" y="1214332"/>
            <a:ext cx="6213575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4400" b="1">
                <a:solidFill>
                  <a:srgbClr val="403E3E"/>
                </a:solidFill>
                <a:latin typeface="Inter Bold"/>
              </a:rPr>
              <a:t>MATERI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7573" y="2202611"/>
            <a:ext cx="621357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600" b="1">
                <a:solidFill>
                  <a:srgbClr val="403E3E"/>
                </a:solidFill>
                <a:latin typeface="Inter Bold"/>
              </a:rPr>
              <a:t>STUDI KASUS NO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" y="2666390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KHANIN OKTAVIA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421" y="3747211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2313020019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" y="4724704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3-A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" y="5875934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PEMODELAN &amp; SIMULASI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926" y="3915460"/>
            <a:ext cx="9486900" cy="451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403E3E"/>
                </a:solidFill>
                <a:latin typeface="Inter Bold"/>
              </a:rPr>
              <a:t>SIMULASI VALUASI HARGA PROPERTI DAN ESTIMASI NILAI JUAL RUMAH
MENGGUNAKAN ALGORITMA SVR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Tahap Data
  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Pembersihan Data &amp; Penskalaan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Detail Kode: Kita membatasi data sebanyak 100,000 baris (nrows=100000) untuk efisiensi komputasi tanpa menghilangkan representasi data.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Logika Bisnis: Kita hanya memilih fitur-fitur yang paling berpengaruh terhadap harga rumah, yaitu: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bedrooms &amp; bathrooms: Jumlah kamar tidur dan kamar mandi.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sqft_living: Luas area hunian (korelasi linear tertinggi).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grade: Kualitas konstruksi dan desain properti.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House_Age: Usia rumah sejak dibangun/renovasi.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Is_Renovated: Status renovasi properti.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lat &amp; long: Lokasi geografis properti.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Hasil: Kode berhasil memproses 21.613 baris data bersih siap latih.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3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Tahap Data
  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Analisis Korelasi &amp; Geografis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Korelasi Fitur: Visualisasi heatmap korelasi menunjukkan bahwa sqft_living dan grade memiliki korelasi linear terkuat terhadap target price.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Analisis Geografis: Plot spasial menggunakan koordinat lat dan long memperlihatkan persebaran properti.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Logika Bisnis: Properti yang terletak di bagian utara (dekat pusat kota/akses premium) memiliki harga per sqft yang jauh lebih tinggi dibandingkan area selatan.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4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Tahap Data
  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Standarisasi &amp; Partisi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Pembagian Data: Data dipecah menjadi 80% Training Set dan 20% Testing Set secara acak.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Feature Scaling: Menggunakan StandardScaler untuk menormalisasi seluruh fitur numerik kontinu sebelum dilatih oleh SVR.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Tujuan: Menjamin fitur berskala besar (seperti sqft_living) tidak mendominasi perhitungan margin pada algoritma SVR.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696504" y="3771900"/>
            <a:ext cx="7552944" cy="9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0" b="1" i="0">
                <a:solidFill>
                  <a:srgbClr val="403E3E"/>
                </a:solidFill>
                <a:latin typeface="Inter Semi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Presentation</Application>
  <PresentationFormat>On-screen Show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DejaVu Sans</vt:lpstr>
      <vt:lpstr>Inter Bold</vt:lpstr>
      <vt:lpstr>C059</vt:lpstr>
      <vt:lpstr>Inter</vt:lpstr>
      <vt:lpstr>Inter Light</vt:lpstr>
      <vt:lpstr>Microsoft YaHei</vt:lpstr>
      <vt:lpstr>Droid Sans Fallback</vt:lpstr>
      <vt:lpstr>Arial Unicode MS</vt:lpstr>
      <vt:lpstr>Calibri</vt:lpstr>
      <vt:lpstr>Inter Semi-Bold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Cream Clean and Simple Social Media Marketing Report Presentation</dc:title>
  <dc:creator/>
  <cp:lastModifiedBy>syelha</cp:lastModifiedBy>
  <cp:revision>3</cp:revision>
  <dcterms:created xsi:type="dcterms:W3CDTF">2026-06-11T06:43:12Z</dcterms:created>
  <dcterms:modified xsi:type="dcterms:W3CDTF">2026-06-11T06:43:12Z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