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3"/>
    <p:sldId id="257" r:id="rId4"/>
    <p:sldId id="266" r:id="rId5"/>
    <p:sldId id="267" r:id="rId6"/>
    <p:sldId id="268" r:id="rId15"/>
    <p:sldId id="269" r:id="rId16"/>
    <p:sldId id="258" r:id="rId7"/>
  </p:sldIdLst>
  <p:sldSz cx="18288000" cy="10287000"/>
  <p:notesSz cx="6858000" cy="9144000"/>
  <p:embeddedFontLst>
    <p:embeddedFont>
      <p:font typeface="Inter Bold" panose="020B0802030000000004" charset="0"/>
      <p:regular r:id="rId11"/>
    </p:embeddedFont>
    <p:embeddedFont>
      <p:font typeface="Inter" panose="020B0502030000000004" charset="0"/>
      <p:regular r:id="rId12"/>
    </p:embeddedFont>
    <p:embeddedFont>
      <p:font typeface="Inter Light" panose="02000503000000020004" charset="0"/>
      <p:regular r:id="rId13"/>
    </p:embeddedFont>
    <p:embeddedFont>
      <p:font typeface="Inter Semi-Bold" panose="02000503000000020004" charset="0"/>
      <p:regular r:id="rId1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38"/>
        <p:guide pos="288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7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ableStyles" Target="tableStyles.xml"/><Relationship Id="rId11" Type="http://schemas.openxmlformats.org/officeDocument/2006/relationships/font" Target="fonts/font1.fntdata"/><Relationship Id="rId12" Type="http://schemas.openxmlformats.org/officeDocument/2006/relationships/font" Target="fonts/font2.fntdata"/><Relationship Id="rId13" Type="http://schemas.openxmlformats.org/officeDocument/2006/relationships/font" Target="fonts/font3.fntdata"/><Relationship Id="rId14" Type="http://schemas.openxmlformats.org/officeDocument/2006/relationships/font" Target="fonts/font4.fntdata"/><Relationship Id="rId15" Type="http://schemas.openxmlformats.org/officeDocument/2006/relationships/slide" Target="slides/slide5.xml"/><Relationship Id="rId16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8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svg"/><Relationship Id="rId3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svg"/><Relationship Id="rId3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E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12470531" y="4636453"/>
            <a:ext cx="10730064" cy="1076325"/>
            <a:chOff x="0" y="0"/>
            <a:chExt cx="3845413" cy="38573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845413" cy="385731"/>
            </a:xfrm>
            <a:custGeom>
              <a:avLst/>
              <a:gdLst/>
              <a:ahLst/>
              <a:cxnLst/>
              <a:rect l="l" t="t" r="r" b="b"/>
              <a:pathLst>
                <a:path w="3845413" h="385731">
                  <a:moveTo>
                    <a:pt x="0" y="0"/>
                  </a:moveTo>
                  <a:lnTo>
                    <a:pt x="3845413" y="0"/>
                  </a:lnTo>
                  <a:lnTo>
                    <a:pt x="3845413" y="385731"/>
                  </a:lnTo>
                  <a:lnTo>
                    <a:pt x="0" y="385731"/>
                  </a:lnTo>
                  <a:close/>
                </a:path>
              </a:pathLst>
            </a:custGeom>
            <a:solidFill>
              <a:srgbClr val="FDFDFA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3845413" cy="4333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grpSp>
        <p:nvGrpSpPr>
          <p:cNvPr id="5" name="Group 5"/>
          <p:cNvGrpSpPr/>
          <p:nvPr/>
        </p:nvGrpSpPr>
        <p:grpSpPr>
          <a:xfrm rot="5400000">
            <a:off x="-2207895" y="1864995"/>
            <a:ext cx="10730230" cy="6619240"/>
            <a:chOff x="0" y="0"/>
            <a:chExt cx="3845413" cy="213429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845413" cy="2134298"/>
            </a:xfrm>
            <a:custGeom>
              <a:avLst/>
              <a:gdLst/>
              <a:ahLst/>
              <a:cxnLst/>
              <a:rect l="l" t="t" r="r" b="b"/>
              <a:pathLst>
                <a:path w="3845413" h="2134298">
                  <a:moveTo>
                    <a:pt x="0" y="0"/>
                  </a:moveTo>
                  <a:lnTo>
                    <a:pt x="3845413" y="0"/>
                  </a:lnTo>
                  <a:lnTo>
                    <a:pt x="3845413" y="2134298"/>
                  </a:lnTo>
                  <a:lnTo>
                    <a:pt x="0" y="2134298"/>
                  </a:lnTo>
                  <a:close/>
                </a:path>
              </a:pathLst>
            </a:custGeom>
            <a:solidFill>
              <a:srgbClr val="F6F5F3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3845413" cy="218192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id="8" name="Freeform 8"/>
          <p:cNvSpPr/>
          <p:nvPr/>
        </p:nvSpPr>
        <p:spPr>
          <a:xfrm>
            <a:off x="5234940" y="1031240"/>
            <a:ext cx="1250950" cy="1520825"/>
          </a:xfrm>
          <a:custGeom>
            <a:avLst/>
            <a:gdLst/>
            <a:ahLst/>
            <a:cxnLst/>
            <a:rect l="l" t="t" r="r" b="b"/>
            <a:pathLst>
              <a:path w="948381" h="1520727">
                <a:moveTo>
                  <a:pt x="0" y="0"/>
                </a:moveTo>
                <a:lnTo>
                  <a:pt x="948381" y="0"/>
                </a:lnTo>
                <a:lnTo>
                  <a:pt x="948381" y="1520727"/>
                </a:lnTo>
                <a:lnTo>
                  <a:pt x="0" y="1520727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p/>
        </p:txBody>
      </p:sp>
      <p:sp>
        <p:nvSpPr>
          <p:cNvPr id="12" name="TextBox 12"/>
          <p:cNvSpPr txBox="1"/>
          <p:nvPr/>
        </p:nvSpPr>
        <p:spPr>
          <a:xfrm>
            <a:off x="15506330" y="8951595"/>
            <a:ext cx="152400" cy="190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sz="1800" spc="-72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PAGE 1</a:t>
            </a:r>
            <a:endParaRPr lang="en-US" sz="1800" spc="-72">
              <a:solidFill>
                <a:srgbClr val="403E3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8377573" y="1214332"/>
            <a:ext cx="6213575" cy="7550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sz="4400" b="1">
                <a:solidFill>
                  <a:srgbClr val="403E3E"/>
                </a:solidFill>
                <a:latin typeface="Inter Bold"/>
              </a:rPr>
              <a:t>MATERI 2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377573" y="2202611"/>
            <a:ext cx="6213575" cy="6229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sz="3600" b="1">
                <a:solidFill>
                  <a:srgbClr val="403E3E"/>
                </a:solidFill>
                <a:latin typeface="Inter Bold"/>
              </a:rPr>
              <a:t>STUDI KASUS NO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1421" y="2666390"/>
            <a:ext cx="6213348" cy="6227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403E3E"/>
                </a:solidFill>
                <a:latin typeface="Inter Bold"/>
              </a:rPr>
              <a:t>KHANIN OKTAVIA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1421" y="3747211"/>
            <a:ext cx="6213348" cy="6227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403E3E"/>
                </a:solidFill>
                <a:latin typeface="Inter Bold"/>
              </a:rPr>
              <a:t>2313020019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1421" y="4724704"/>
            <a:ext cx="6213348" cy="6227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403E3E"/>
                </a:solidFill>
                <a:latin typeface="Inter Bold"/>
              </a:rPr>
              <a:t>3-A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1421" y="5875934"/>
            <a:ext cx="6213348" cy="6227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403E3E"/>
                </a:solidFill>
                <a:latin typeface="Inter Bold"/>
              </a:rPr>
              <a:t>PEMODELAN &amp; SIMULASI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54926" y="3915460"/>
            <a:ext cx="9486900" cy="451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 i="0">
                <a:solidFill>
                  <a:srgbClr val="403E3E"/>
                </a:solidFill>
                <a:latin typeface="Inter Bold"/>
              </a:rPr>
              <a:t>SIMULASI VALUASI HARGA PROPERTI DAN ESTIMASI NILAI JUAL RUMAH
MENGGUNAKAN ALGORITMA SVR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E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12432431" y="4605338"/>
            <a:ext cx="10730064" cy="1076325"/>
            <a:chOff x="0" y="0"/>
            <a:chExt cx="3845413" cy="38573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845413" cy="385731"/>
            </a:xfrm>
            <a:custGeom>
              <a:avLst/>
              <a:gdLst/>
              <a:ahLst/>
              <a:cxnLst/>
              <a:rect l="l" t="t" r="r" b="b"/>
              <a:pathLst>
                <a:path w="3845413" h="385731">
                  <a:moveTo>
                    <a:pt x="0" y="0"/>
                  </a:moveTo>
                  <a:lnTo>
                    <a:pt x="3845413" y="0"/>
                  </a:lnTo>
                  <a:lnTo>
                    <a:pt x="3845413" y="385731"/>
                  </a:lnTo>
                  <a:lnTo>
                    <a:pt x="0" y="385731"/>
                  </a:lnTo>
                  <a:close/>
                </a:path>
              </a:pathLst>
            </a:custGeom>
            <a:solidFill>
              <a:srgbClr val="FDFDFA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3845413" cy="4333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grpSp>
        <p:nvGrpSpPr>
          <p:cNvPr id="15" name="Group 15"/>
          <p:cNvGrpSpPr/>
          <p:nvPr/>
        </p:nvGrpSpPr>
        <p:grpSpPr>
          <a:xfrm rot="5400000">
            <a:off x="-3195310" y="2727751"/>
            <a:ext cx="10730064" cy="4831498"/>
            <a:chOff x="0" y="0"/>
            <a:chExt cx="3845413" cy="17315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3845413" cy="1731500"/>
            </a:xfrm>
            <a:custGeom>
              <a:avLst/>
              <a:gdLst/>
              <a:ahLst/>
              <a:cxnLst/>
              <a:rect l="l" t="t" r="r" b="b"/>
              <a:pathLst>
                <a:path w="3845413" h="1731500">
                  <a:moveTo>
                    <a:pt x="0" y="0"/>
                  </a:moveTo>
                  <a:lnTo>
                    <a:pt x="3845413" y="0"/>
                  </a:lnTo>
                  <a:lnTo>
                    <a:pt x="3845413" y="1731500"/>
                  </a:lnTo>
                  <a:lnTo>
                    <a:pt x="0" y="1731500"/>
                  </a:lnTo>
                  <a:close/>
                </a:path>
              </a:pathLst>
            </a:custGeom>
            <a:solidFill>
              <a:srgbClr val="F6F5F3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3845413" cy="1779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90525" y="1028700"/>
            <a:ext cx="8769096" cy="13542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0" i="0">
                <a:solidFill>
                  <a:srgbClr val="403E3E"/>
                </a:solidFill>
                <a:latin typeface="Inter"/>
              </a:rPr>
              <a:t>Tahap Data
   Engineering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161995"/>
            <a:ext cx="3994099" cy="270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0" i="0">
                <a:solidFill>
                  <a:srgbClr val="403E3E"/>
                </a:solidFill>
                <a:latin typeface="Inter"/>
              </a:rPr>
              <a:t>Pembersihan Data &amp; Audit Kualitas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10504" y="1028700"/>
            <a:ext cx="12401092" cy="7755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800">
                <a:solidFill>
                  <a:srgbClr val="403E3E"/>
                </a:solidFill>
                <a:latin typeface="Inter"/>
              </a:defRPr>
            </a:pPr>
            <a:r>
              <a:t>Data Ingestion: Memuat data mentah harga rumah dari dataset perumahan (total 21.613 records).</a:t>
            </a:r>
          </a:p>
          <a:p>
            <a:pPr>
              <a:spcAft>
                <a:spcPts val="1200"/>
              </a:spcAft>
              <a:defRPr sz="2800">
                <a:solidFill>
                  <a:srgbClr val="403E3E"/>
                </a:solidFill>
                <a:latin typeface="Inter"/>
              </a:defRPr>
            </a:pPr>
            <a:r>
              <a:t>Pembersihan Awal: Memeriksa nilai kosong (missing values) dan baris duplikat.</a:t>
            </a:r>
          </a:p>
          <a:p>
            <a:pPr>
              <a:spcAft>
                <a:spcPts val="1200"/>
              </a:spcAft>
              <a:defRPr sz="2800">
                <a:solidFill>
                  <a:srgbClr val="403E3E"/>
                </a:solidFill>
                <a:latin typeface="Inter"/>
              </a:defRPr>
            </a:pPr>
            <a:r>
              <a:t>Penggunaan Baris: Membatasi data menggunakan parameter nrows=100000 di pandas untuk menjaga efisiensi kinerja memori.</a:t>
            </a:r>
          </a:p>
          <a:p>
            <a:pPr>
              <a:spcAft>
                <a:spcPts val="1200"/>
              </a:spcAft>
              <a:defRPr sz="2800">
                <a:solidFill>
                  <a:srgbClr val="403E3E"/>
                </a:solidFill>
                <a:latin typeface="Inter"/>
              </a:defRPr>
            </a:pPr>
            <a:r>
              <a:t>Hasil Pembersihan: Diperoleh 21.613 baris data bersih siap pakai tanpa anomali nilai kosong.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E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12432431" y="4605338"/>
            <a:ext cx="10730064" cy="1076325"/>
            <a:chOff x="0" y="0"/>
            <a:chExt cx="3845413" cy="38573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845413" cy="385731"/>
            </a:xfrm>
            <a:custGeom>
              <a:avLst/>
              <a:gdLst/>
              <a:ahLst/>
              <a:cxnLst/>
              <a:rect l="l" t="t" r="r" b="b"/>
              <a:pathLst>
                <a:path w="3845413" h="385731">
                  <a:moveTo>
                    <a:pt x="0" y="0"/>
                  </a:moveTo>
                  <a:lnTo>
                    <a:pt x="3845413" y="0"/>
                  </a:lnTo>
                  <a:lnTo>
                    <a:pt x="3845413" y="385731"/>
                  </a:lnTo>
                  <a:lnTo>
                    <a:pt x="0" y="385731"/>
                  </a:lnTo>
                  <a:close/>
                </a:path>
              </a:pathLst>
            </a:custGeom>
            <a:solidFill>
              <a:srgbClr val="FDFDFA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3845413" cy="4333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5506330" y="8951595"/>
            <a:ext cx="152400" cy="190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r>
              <a:rPr sz="1800">
                <a:solidFill>
                  <a:srgbClr val="403E3E"/>
                </a:solidFill>
                <a:latin typeface="Inter"/>
              </a:rPr>
              <a:t>PAGE 3</a:t>
            </a:r>
          </a:p>
        </p:txBody>
      </p:sp>
      <p:grpSp>
        <p:nvGrpSpPr>
          <p:cNvPr id="15" name="Group 15"/>
          <p:cNvGrpSpPr/>
          <p:nvPr/>
        </p:nvGrpSpPr>
        <p:grpSpPr>
          <a:xfrm rot="5400000">
            <a:off x="-3195310" y="2727751"/>
            <a:ext cx="10730064" cy="4831498"/>
            <a:chOff x="0" y="0"/>
            <a:chExt cx="3845413" cy="17315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3845413" cy="1731500"/>
            </a:xfrm>
            <a:custGeom>
              <a:avLst/>
              <a:gdLst/>
              <a:ahLst/>
              <a:cxnLst/>
              <a:rect l="l" t="t" r="r" b="b"/>
              <a:pathLst>
                <a:path w="3845413" h="1731500">
                  <a:moveTo>
                    <a:pt x="0" y="0"/>
                  </a:moveTo>
                  <a:lnTo>
                    <a:pt x="3845413" y="0"/>
                  </a:lnTo>
                  <a:lnTo>
                    <a:pt x="3845413" y="1731500"/>
                  </a:lnTo>
                  <a:lnTo>
                    <a:pt x="0" y="1731500"/>
                  </a:lnTo>
                  <a:close/>
                </a:path>
              </a:pathLst>
            </a:custGeom>
            <a:solidFill>
              <a:srgbClr val="F6F5F3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3845413" cy="1779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90525" y="1028700"/>
            <a:ext cx="8769096" cy="13542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0" i="0">
                <a:solidFill>
                  <a:srgbClr val="403E3E"/>
                </a:solidFill>
                <a:latin typeface="Inter"/>
              </a:rPr>
              <a:t>Tahap Data
   Engineering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161995"/>
            <a:ext cx="3994099" cy="270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0" i="0">
                <a:solidFill>
                  <a:srgbClr val="403E3E"/>
                </a:solidFill>
                <a:latin typeface="Inter"/>
              </a:rPr>
              <a:t>Seleksi Fitur &amp; Logika Bisnis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10504" y="1028700"/>
            <a:ext cx="12401092" cy="7755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800">
                <a:solidFill>
                  <a:srgbClr val="403E3E"/>
                </a:solidFill>
                <a:latin typeface="Inter"/>
              </a:defRPr>
            </a:pPr>
            <a:r>
              <a:t>Memilih fitur fisik dan lokasi yang secara signifikan menentukan nilai jual properti:</a:t>
            </a:r>
          </a:p>
          <a:p>
            <a:pPr lvl="1">
              <a:spcAft>
                <a:spcPts val="1200"/>
              </a:spcAft>
              <a:defRPr sz="2400">
                <a:solidFill>
                  <a:srgbClr val="403E3E"/>
                </a:solidFill>
                <a:latin typeface="Inter"/>
              </a:defRPr>
            </a:pPr>
            <a:r>
              <a:t>- bedrooms &amp; bathrooms: Jumlah kamar tidur dan kamar mandi sebagai kapasitas fisik.</a:t>
            </a:r>
          </a:p>
          <a:p>
            <a:pPr lvl="1">
              <a:spcAft>
                <a:spcPts val="1200"/>
              </a:spcAft>
              <a:defRPr sz="2400">
                <a:solidFill>
                  <a:srgbClr val="403E3E"/>
                </a:solidFill>
                <a:latin typeface="Inter"/>
              </a:defRPr>
            </a:pPr>
            <a:r>
              <a:t>- sqft_living: Luas ruang tamu/luas bangunan dalam kaki persegi (korelasi terkuat).</a:t>
            </a:r>
          </a:p>
          <a:p>
            <a:pPr lvl="1">
              <a:spcAft>
                <a:spcPts val="1200"/>
              </a:spcAft>
              <a:defRPr sz="2400">
                <a:solidFill>
                  <a:srgbClr val="403E3E"/>
                </a:solidFill>
                <a:latin typeface="Inter"/>
              </a:defRPr>
            </a:pPr>
            <a:r>
              <a:t>- grade: Skor kualitas konstruksi dan desain dari 1 (terendah) hingga 13 (tertinggi).</a:t>
            </a:r>
          </a:p>
          <a:p>
            <a:pPr lvl="1">
              <a:spcAft>
                <a:spcPts val="1200"/>
              </a:spcAft>
              <a:defRPr sz="2400">
                <a:solidFill>
                  <a:srgbClr val="403E3E"/>
                </a:solidFill>
                <a:latin typeface="Inter"/>
              </a:defRPr>
            </a:pPr>
            <a:r>
              <a:t>- lat &amp; long: Letak koordinat lintang dan bujur untuk mewakili faktor lokasi geografis.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E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12432431" y="4605338"/>
            <a:ext cx="10730064" cy="1076325"/>
            <a:chOff x="0" y="0"/>
            <a:chExt cx="3845413" cy="38573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845413" cy="385731"/>
            </a:xfrm>
            <a:custGeom>
              <a:avLst/>
              <a:gdLst/>
              <a:ahLst/>
              <a:cxnLst/>
              <a:rect l="l" t="t" r="r" b="b"/>
              <a:pathLst>
                <a:path w="3845413" h="385731">
                  <a:moveTo>
                    <a:pt x="0" y="0"/>
                  </a:moveTo>
                  <a:lnTo>
                    <a:pt x="3845413" y="0"/>
                  </a:lnTo>
                  <a:lnTo>
                    <a:pt x="3845413" y="385731"/>
                  </a:lnTo>
                  <a:lnTo>
                    <a:pt x="0" y="385731"/>
                  </a:lnTo>
                  <a:close/>
                </a:path>
              </a:pathLst>
            </a:custGeom>
            <a:solidFill>
              <a:srgbClr val="FDFDFA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3845413" cy="4333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5506330" y="8951595"/>
            <a:ext cx="152400" cy="190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r>
              <a:rPr sz="1800">
                <a:solidFill>
                  <a:srgbClr val="403E3E"/>
                </a:solidFill>
                <a:latin typeface="Inter"/>
              </a:rPr>
              <a:t>PAGE 4</a:t>
            </a:r>
          </a:p>
        </p:txBody>
      </p:sp>
      <p:grpSp>
        <p:nvGrpSpPr>
          <p:cNvPr id="15" name="Group 15"/>
          <p:cNvGrpSpPr/>
          <p:nvPr/>
        </p:nvGrpSpPr>
        <p:grpSpPr>
          <a:xfrm rot="5400000">
            <a:off x="-3195310" y="2727751"/>
            <a:ext cx="10730064" cy="4831498"/>
            <a:chOff x="0" y="0"/>
            <a:chExt cx="3845413" cy="17315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3845413" cy="1731500"/>
            </a:xfrm>
            <a:custGeom>
              <a:avLst/>
              <a:gdLst/>
              <a:ahLst/>
              <a:cxnLst/>
              <a:rect l="l" t="t" r="r" b="b"/>
              <a:pathLst>
                <a:path w="3845413" h="1731500">
                  <a:moveTo>
                    <a:pt x="0" y="0"/>
                  </a:moveTo>
                  <a:lnTo>
                    <a:pt x="3845413" y="0"/>
                  </a:lnTo>
                  <a:lnTo>
                    <a:pt x="3845413" y="1731500"/>
                  </a:lnTo>
                  <a:lnTo>
                    <a:pt x="0" y="1731500"/>
                  </a:lnTo>
                  <a:close/>
                </a:path>
              </a:pathLst>
            </a:custGeom>
            <a:solidFill>
              <a:srgbClr val="F6F5F3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3845413" cy="1779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90525" y="1028700"/>
            <a:ext cx="8769096" cy="13542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0" i="0">
                <a:solidFill>
                  <a:srgbClr val="403E3E"/>
                </a:solidFill>
                <a:latin typeface="Inter"/>
              </a:rPr>
              <a:t>Tahap Data
   Engineering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161995"/>
            <a:ext cx="3994099" cy="270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0" i="0">
                <a:solidFill>
                  <a:srgbClr val="403E3E"/>
                </a:solidFill>
                <a:latin typeface="Inter"/>
              </a:rPr>
              <a:t>Rekayasa Fitur Properti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10504" y="1028700"/>
            <a:ext cx="12401092" cy="7755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800">
                <a:solidFill>
                  <a:srgbClr val="403E3E"/>
                </a:solidFill>
                <a:latin typeface="Inter"/>
              </a:defRPr>
            </a:pPr>
            <a:r>
              <a:t>Menghitung variabel baru berdasarkan waktu pembangunan:</a:t>
            </a:r>
          </a:p>
          <a:p>
            <a:pPr lvl="1">
              <a:spcAft>
                <a:spcPts val="1200"/>
              </a:spcAft>
              <a:defRPr sz="2400">
                <a:solidFill>
                  <a:srgbClr val="403E3E"/>
                </a:solidFill>
                <a:latin typeface="Inter"/>
              </a:defRPr>
            </a:pPr>
            <a:r>
              <a:t>- House_Age: Usia bangunan sejak dibangun hingga tahun transaksi.</a:t>
            </a:r>
          </a:p>
          <a:p>
            <a:pPr lvl="1">
              <a:spcAft>
                <a:spcPts val="1200"/>
              </a:spcAft>
              <a:defRPr sz="2400">
                <a:solidFill>
                  <a:srgbClr val="403E3E"/>
                </a:solidFill>
                <a:latin typeface="Inter"/>
              </a:defRPr>
            </a:pPr>
            <a:r>
              <a:t>- Is_Renovated: Variabel biner (0 atau 1) yang menunjukkan apakah bangunan pernah direnovasi.</a:t>
            </a:r>
          </a:p>
          <a:p>
            <a:pPr>
              <a:spcAft>
                <a:spcPts val="1200"/>
              </a:spcAft>
              <a:defRPr sz="2800">
                <a:solidFill>
                  <a:srgbClr val="403E3E"/>
                </a:solidFill>
                <a:latin typeface="Inter"/>
              </a:defRPr>
            </a:pPr>
            <a:r>
              <a:t>Logika Bisnis: Menangkap depresiasi nilai bangunan akibat penuaan fisik, sekaligus mengapresiasi peningkatan harga pasca-renovasi.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/>
          <p:nvPr/>
        </p:nvGrpSpPr>
        <p:grpSpPr>
          <a:xfrm rot="5400000">
            <a:off x="12432431" y="4605338"/>
            <a:ext cx="10730064" cy="1076325"/>
            <a:chOff x="0" y="0"/>
            <a:chExt cx="3845413" cy="38573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845413" cy="385731"/>
            </a:xfrm>
            <a:custGeom>
              <a:avLst/>
              <a:gdLst/>
              <a:ahLst/>
              <a:cxnLst/>
              <a:rect l="l" t="t" r="r" b="b"/>
              <a:pathLst>
                <a:path w="3845413" h="385731">
                  <a:moveTo>
                    <a:pt x="0" y="0"/>
                  </a:moveTo>
                  <a:lnTo>
                    <a:pt x="3845413" y="0"/>
                  </a:lnTo>
                  <a:lnTo>
                    <a:pt x="3845413" y="385731"/>
                  </a:lnTo>
                  <a:lnTo>
                    <a:pt x="0" y="385731"/>
                  </a:lnTo>
                  <a:close/>
                </a:path>
              </a:pathLst>
            </a:custGeom>
            <a:solidFill>
              <a:srgbClr val="FDFDFA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3845413" cy="4333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5506330" y="8951595"/>
            <a:ext cx="152400" cy="190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r>
              <a:rPr sz="1800">
                <a:solidFill>
                  <a:srgbClr val="403E3E"/>
                </a:solidFill>
                <a:latin typeface="Inter"/>
              </a:rPr>
              <a:t>PAGE 5</a:t>
            </a:r>
          </a:p>
        </p:txBody>
      </p:sp>
      <p:grpSp>
        <p:nvGrpSpPr>
          <p:cNvPr id="15" name="Group 15"/>
          <p:cNvGrpSpPr/>
          <p:nvPr/>
        </p:nvGrpSpPr>
        <p:grpSpPr>
          <a:xfrm rot="5400000">
            <a:off x="-3195310" y="2727751"/>
            <a:ext cx="10730064" cy="4831498"/>
            <a:chOff x="0" y="0"/>
            <a:chExt cx="3845413" cy="17315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3845413" cy="1731500"/>
            </a:xfrm>
            <a:custGeom>
              <a:avLst/>
              <a:gdLst/>
              <a:ahLst/>
              <a:cxnLst/>
              <a:rect l="l" t="t" r="r" b="b"/>
              <a:pathLst>
                <a:path w="3845413" h="1731500">
                  <a:moveTo>
                    <a:pt x="0" y="0"/>
                  </a:moveTo>
                  <a:lnTo>
                    <a:pt x="3845413" y="0"/>
                  </a:lnTo>
                  <a:lnTo>
                    <a:pt x="3845413" y="1731500"/>
                  </a:lnTo>
                  <a:lnTo>
                    <a:pt x="0" y="1731500"/>
                  </a:lnTo>
                  <a:close/>
                </a:path>
              </a:pathLst>
            </a:custGeom>
            <a:solidFill>
              <a:srgbClr val="F6F5F3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3845413" cy="1779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90525" y="1028700"/>
            <a:ext cx="8769096" cy="13542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0" i="0">
                <a:solidFill>
                  <a:srgbClr val="403E3E"/>
                </a:solidFill>
                <a:latin typeface="Inter"/>
              </a:rPr>
              <a:t>Tahap Data
   Engineering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161995"/>
            <a:ext cx="3994099" cy="270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0" i="0">
                <a:solidFill>
                  <a:srgbClr val="403E3E"/>
                </a:solidFill>
                <a:latin typeface="Inter"/>
              </a:rPr>
              <a:t>Analisis Spasial &amp; Geografis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10504" y="1028700"/>
            <a:ext cx="12401092" cy="7755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800">
                <a:solidFill>
                  <a:srgbClr val="403E3E"/>
                </a:solidFill>
                <a:latin typeface="Inter"/>
              </a:defRPr>
            </a:pPr>
            <a:r>
              <a:t>Menganalisis korelasi antara koordinat lintang (lat) dengan harga jual properti.</a:t>
            </a:r>
          </a:p>
          <a:p>
            <a:pPr>
              <a:spcAft>
                <a:spcPts val="1200"/>
              </a:spcAft>
              <a:defRPr sz="2800">
                <a:solidFill>
                  <a:srgbClr val="403E3E"/>
                </a:solidFill>
                <a:latin typeface="Inter"/>
              </a:defRPr>
            </a:pPr>
            <a:r>
              <a:t>Visualisasi Spasial: Menunjukkan daerah bagian utara (dekat pusat kota/pantai premium) memiliki harga per kaki persegi yang jauh lebih mahal.</a:t>
            </a:r>
          </a:p>
          <a:p>
            <a:pPr>
              <a:spcAft>
                <a:spcPts val="1200"/>
              </a:spcAft>
              <a:defRPr sz="2800">
                <a:solidFill>
                  <a:srgbClr val="403E3E"/>
                </a:solidFill>
                <a:latin typeface="Inter"/>
              </a:defRPr>
            </a:pPr>
            <a:r>
              <a:t>Kesimpulan: Faktor lokasi geografis (lat, long) terbukti menjadi prediktor yang sangat kuat di samping ukuran fisik rumah.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/>
          <p:nvPr/>
        </p:nvGrpSpPr>
        <p:grpSpPr>
          <a:xfrm rot="5400000">
            <a:off x="12432431" y="4605338"/>
            <a:ext cx="10730064" cy="1076325"/>
            <a:chOff x="0" y="0"/>
            <a:chExt cx="3845413" cy="38573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845413" cy="385731"/>
            </a:xfrm>
            <a:custGeom>
              <a:avLst/>
              <a:gdLst/>
              <a:ahLst/>
              <a:cxnLst/>
              <a:rect l="l" t="t" r="r" b="b"/>
              <a:pathLst>
                <a:path w="3845413" h="385731">
                  <a:moveTo>
                    <a:pt x="0" y="0"/>
                  </a:moveTo>
                  <a:lnTo>
                    <a:pt x="3845413" y="0"/>
                  </a:lnTo>
                  <a:lnTo>
                    <a:pt x="3845413" y="385731"/>
                  </a:lnTo>
                  <a:lnTo>
                    <a:pt x="0" y="385731"/>
                  </a:lnTo>
                  <a:close/>
                </a:path>
              </a:pathLst>
            </a:custGeom>
            <a:solidFill>
              <a:srgbClr val="FDFDFA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3845413" cy="4333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5506330" y="8951595"/>
            <a:ext cx="152400" cy="190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r>
              <a:rPr sz="1800">
                <a:solidFill>
                  <a:srgbClr val="403E3E"/>
                </a:solidFill>
                <a:latin typeface="Inter"/>
              </a:rPr>
              <a:t>PAGE 6</a:t>
            </a:r>
          </a:p>
        </p:txBody>
      </p:sp>
      <p:grpSp>
        <p:nvGrpSpPr>
          <p:cNvPr id="15" name="Group 15"/>
          <p:cNvGrpSpPr/>
          <p:nvPr/>
        </p:nvGrpSpPr>
        <p:grpSpPr>
          <a:xfrm rot="5400000">
            <a:off x="-3195310" y="2727751"/>
            <a:ext cx="10730064" cy="4831498"/>
            <a:chOff x="0" y="0"/>
            <a:chExt cx="3845413" cy="17315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3845413" cy="1731500"/>
            </a:xfrm>
            <a:custGeom>
              <a:avLst/>
              <a:gdLst/>
              <a:ahLst/>
              <a:cxnLst/>
              <a:rect l="l" t="t" r="r" b="b"/>
              <a:pathLst>
                <a:path w="3845413" h="1731500">
                  <a:moveTo>
                    <a:pt x="0" y="0"/>
                  </a:moveTo>
                  <a:lnTo>
                    <a:pt x="3845413" y="0"/>
                  </a:lnTo>
                  <a:lnTo>
                    <a:pt x="3845413" y="1731500"/>
                  </a:lnTo>
                  <a:lnTo>
                    <a:pt x="0" y="1731500"/>
                  </a:lnTo>
                  <a:close/>
                </a:path>
              </a:pathLst>
            </a:custGeom>
            <a:solidFill>
              <a:srgbClr val="F6F5F3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3845413" cy="1779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90525" y="1028700"/>
            <a:ext cx="8769096" cy="13542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0" i="0">
                <a:solidFill>
                  <a:srgbClr val="403E3E"/>
                </a:solidFill>
                <a:latin typeface="Inter"/>
              </a:rPr>
              <a:t>Tahap Data
   Engineering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161995"/>
            <a:ext cx="3994099" cy="270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0" i="0">
                <a:solidFill>
                  <a:srgbClr val="403E3E"/>
                </a:solidFill>
                <a:latin typeface="Inter"/>
              </a:rPr>
              <a:t>Standarisasi Data &amp; Partisi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10504" y="1028700"/>
            <a:ext cx="12401092" cy="7755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800">
                <a:solidFill>
                  <a:srgbClr val="403E3E"/>
                </a:solidFill>
                <a:latin typeface="Inter"/>
              </a:defRPr>
            </a:pPr>
            <a:r>
              <a:t>Pembagian Dataset: Membagi data menjadi 80% Training Set untuk melatih model dan 20% Testing Set untuk menguji model.</a:t>
            </a:r>
          </a:p>
          <a:p>
            <a:pPr>
              <a:spcAft>
                <a:spcPts val="1200"/>
              </a:spcAft>
              <a:defRPr sz="2800">
                <a:solidFill>
                  <a:srgbClr val="403E3E"/>
                </a:solidFill>
                <a:latin typeface="Inter"/>
              </a:defRPr>
            </a:pPr>
            <a:r>
              <a:t>Penskalaan Fitur: Menerapkan StandardScaler dari sklearn untuk meratakan skala fitur kontinu seperti sqft_living dan annual_inc.</a:t>
            </a:r>
          </a:p>
          <a:p>
            <a:pPr>
              <a:spcAft>
                <a:spcPts val="1200"/>
              </a:spcAft>
              <a:defRPr sz="2800">
                <a:solidFill>
                  <a:srgbClr val="403E3E"/>
                </a:solidFill>
                <a:latin typeface="Inter"/>
              </a:defRPr>
            </a:pPr>
            <a:r>
              <a:t>Justifikasi: Mencegah fitur berskala besar mendominasi fungsi penalti margin pada algoritma Support Vector Regression (SVR).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12432431" y="4605338"/>
            <a:ext cx="10730064" cy="1076325"/>
            <a:chOff x="0" y="0"/>
            <a:chExt cx="3845413" cy="38573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845413" cy="385731"/>
            </a:xfrm>
            <a:custGeom>
              <a:avLst/>
              <a:gdLst/>
              <a:ahLst/>
              <a:cxnLst/>
              <a:rect l="l" t="t" r="r" b="b"/>
              <a:pathLst>
                <a:path w="3845413" h="385731">
                  <a:moveTo>
                    <a:pt x="0" y="0"/>
                  </a:moveTo>
                  <a:lnTo>
                    <a:pt x="3845413" y="0"/>
                  </a:lnTo>
                  <a:lnTo>
                    <a:pt x="3845413" y="385731"/>
                  </a:lnTo>
                  <a:lnTo>
                    <a:pt x="0" y="385731"/>
                  </a:lnTo>
                  <a:close/>
                </a:path>
              </a:pathLst>
            </a:custGeom>
            <a:solidFill>
              <a:srgbClr val="FDFDFA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3845413" cy="4333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id="5" name="TextBox 4"/>
          <p:cNvSpPr txBox="1"/>
          <p:nvPr/>
        </p:nvSpPr>
        <p:spPr>
          <a:xfrm>
            <a:off x="7696504" y="3771900"/>
            <a:ext cx="7552944" cy="9262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0" b="1" i="0">
                <a:solidFill>
                  <a:srgbClr val="403E3E"/>
                </a:solidFill>
                <a:latin typeface="Inter Semi-Bold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85</Words>
  <Application>WPS Presentation</Application>
  <PresentationFormat>On-screen Show (4:3)</PresentationFormat>
  <Paragraphs>14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9" baseType="lpstr">
      <vt:lpstr>Arial</vt:lpstr>
      <vt:lpstr>SimSun</vt:lpstr>
      <vt:lpstr>Wingdings</vt:lpstr>
      <vt:lpstr>DejaVu Sans</vt:lpstr>
      <vt:lpstr>Inter Bold</vt:lpstr>
      <vt:lpstr>C059</vt:lpstr>
      <vt:lpstr>Inter</vt:lpstr>
      <vt:lpstr>Inter Light</vt:lpstr>
      <vt:lpstr>Microsoft YaHei</vt:lpstr>
      <vt:lpstr>Droid Sans Fallback</vt:lpstr>
      <vt:lpstr>Arial Unicode MS</vt:lpstr>
      <vt:lpstr>Calibri</vt:lpstr>
      <vt:lpstr>Inter Semi-Bold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Black and Cream Clean and Simple Social Media Marketing Report Presentation</dc:title>
  <dc:creator/>
  <cp:lastModifiedBy>syelha</cp:lastModifiedBy>
  <cp:revision>3</cp:revision>
  <dcterms:created xsi:type="dcterms:W3CDTF">2026-06-11T06:43:12Z</dcterms:created>
  <dcterms:modified xsi:type="dcterms:W3CDTF">2026-06-11T06:43:12Z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/>
  </property>
  <property fmtid="{D5CDD505-2E9C-101B-9397-08002B2CF9AE}" pid="3" name="KSOProductBuildVer">
    <vt:lpwstr>1033-11.1.0.11723</vt:lpwstr>
  </property>
</Properties>
</file>